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109728" cy="5303520"/>
          </a:xfrm>
          <a:prstGeom prst="rect">
            <a:avLst/>
          </a:prstGeom>
          <a:solidFill>
            <a:srgbClr val="1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05156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ClinicCare</a:t>
            </a:r>
          </a:p>
          <a:p>
            <a:pPr>
              <a:defRPr sz="2500">
                <a:solidFill>
                  <a:srgbClr val="BEDCDC"/>
                </a:solidFill>
              </a:defRPr>
            </a:pPr>
            <a:r>
              <a:t>Digital Hospital &amp; Clinic Operations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43200"/>
            <a:ext cx="9601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From fragmented workflows to a connected patient journey</a:t>
            </a:r>
          </a:p>
          <a:p>
            <a:pPr>
              <a:defRPr sz="1500">
                <a:solidFill>
                  <a:srgbClr val="CDD7E1"/>
                </a:solidFill>
              </a:defRPr>
            </a:pPr>
            <a:r>
              <a:t>Wireframe-driven functionality • Multi-tenant • Multi-environment • Role-aware • Idempotent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7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337"/>
                </a:solidFill>
              </a:rPr>
              <a:t>Executive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78"/>
                </a:solidFill>
              </a:rPr>
              <a:t>A single operational layer across patient, clinical and revenue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8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18807D"/>
                </a:solidFill>
              </a:rPr>
              <a:t>Patient convenience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Faster discovery, booking, records, payments, follow-ups and digital communication.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7304" y="141732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2B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2B8B57"/>
                </a:solidFill>
              </a:rPr>
              <a:t>Staff productivity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Role-based screens, queues, centralized patient context and fewer hand-offs.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0248" y="141732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8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E0852D"/>
                </a:solidFill>
              </a:rPr>
              <a:t>Revenue visibility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Billing, payments, products, packages, orders, leads and follow-ups in one operating 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15468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6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162337"/>
                </a:solidFill>
              </a:rPr>
              <a:t>Management control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Tenant, clinic, environment, RBAC, audit and idempotency provide controlled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7304" y="315468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8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18807D"/>
                </a:solidFill>
              </a:rPr>
              <a:t>Continuity of care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Consultation → prescription → records → laboratory → treatment → follow-up.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0248" y="315468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2B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2B8B57"/>
                </a:solidFill>
              </a:rPr>
              <a:t>Scalable foundation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The same operating model can serve multiple clinics/organizations without mixing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7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337"/>
                </a:solidFill>
              </a:rPr>
              <a:t>Current-state issues to validate with the hospital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78"/>
                </a:solidFill>
              </a:rPr>
              <a:t>Use these as discovery questions / common workflow gaps—not as measured hospital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50">
                <a:solidFill>
                  <a:srgbClr val="162337"/>
                </a:solidFill>
              </a:defRPr>
            </a:pPr>
            <a:r>
              <a:t>• Patient journey can cross reception, appointments, consultation, diagnostics, pharmacy/products and billing—creating opportunities for duplicate entry or hand-offs.</a:t>
            </a:r>
          </a:p>
          <a:p>
            <a:pPr>
              <a:spcAft>
                <a:spcPts val="1200"/>
              </a:spcAft>
              <a:defRPr sz="1650">
                <a:solidFill>
                  <a:srgbClr val="162337"/>
                </a:solidFill>
              </a:defRPr>
            </a:pPr>
            <a:r>
              <a:t>• Operational information may sit in separate workflows, making it harder to see the complete patient and revenue picture in one place.</a:t>
            </a:r>
          </a:p>
          <a:p>
            <a:pPr>
              <a:spcAft>
                <a:spcPts val="1200"/>
              </a:spcAft>
              <a:defRPr sz="1650">
                <a:solidFill>
                  <a:srgbClr val="162337"/>
                </a:solidFill>
              </a:defRPr>
            </a:pPr>
            <a:r>
              <a:t>• Role-specific access can become difficult to manage as the organization adds doctors, nurses, reception, billing, administrators and clinic locations.</a:t>
            </a:r>
          </a:p>
          <a:p>
            <a:pPr>
              <a:spcAft>
                <a:spcPts val="1200"/>
              </a:spcAft>
              <a:defRPr sz="1650">
                <a:solidFill>
                  <a:srgbClr val="162337"/>
                </a:solidFill>
              </a:defRPr>
            </a:pPr>
            <a:r>
              <a:t>• Multiple clinics and environments require explicit isolation so development/staging activity cannot affect production data.</a:t>
            </a:r>
          </a:p>
          <a:p>
            <a:pPr>
              <a:spcAft>
                <a:spcPts val="1200"/>
              </a:spcAft>
              <a:defRPr sz="1650">
                <a:solidFill>
                  <a:srgbClr val="162337"/>
                </a:solidFill>
              </a:defRPr>
            </a:pPr>
            <a:r>
              <a:t>• Manual follow-ups and lead handling can create leakage between patient engagement and revenue opportunities.</a:t>
            </a:r>
          </a:p>
          <a:p>
            <a:pPr>
              <a:spcAft>
                <a:spcPts val="1200"/>
              </a:spcAft>
              <a:defRPr sz="1650">
                <a:solidFill>
                  <a:srgbClr val="162337"/>
                </a:solidFill>
              </a:defRPr>
            </a:pPr>
            <a:r>
              <a:t>• Repeated clicks/submissions can create duplicate operational records unless state-changing actions are idempotent.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7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337"/>
                </a:solidFill>
              </a:rPr>
              <a:t>ClinicCare functional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78"/>
                </a:solidFill>
              </a:rPr>
              <a:t>Wireframe modules represented in the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8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18807D"/>
                </a:solidFill>
              </a:rPr>
              <a:t>Front office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Dashboard • Patients • Appointments &amp; Queue • Leads &amp; Follow-ups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7304" y="141732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2B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2B8B57"/>
                </a:solidFill>
              </a:rPr>
              <a:t>Clinical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Consultations • Prescriptions • Medical Records • Teleconsultation • Treatments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0248" y="141732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8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E0852D"/>
                </a:solidFill>
              </a:rPr>
              <a:t>Diagnostics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Laboratory • Documents • Consents • Skin assessments • Treatment 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15468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8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18807D"/>
                </a:solidFill>
              </a:rPr>
              <a:t>Commerce &amp; revenue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Billing • Payments • Orders • Cart • Products &amp; Inventory • Coupons • Packages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7304" y="315468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6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162337"/>
                </a:solidFill>
              </a:rPr>
              <a:t>People &amp; access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Doctors • Schedules • Organizations &amp; Clinics • Users &amp; RBAC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0248" y="315468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2B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2B8B57"/>
                </a:solidFill>
              </a:rPr>
              <a:t>Engagement &amp; content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Reviews • Notifications • CMS • Articles • FAQs • Reports &amp;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7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337"/>
                </a:solidFill>
              </a:rPr>
              <a:t>One connected patient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78"/>
                </a:solidFill>
              </a:rPr>
              <a:t>The value is in connecting the steps, not just digitizing individual screens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1600200"/>
            <a:ext cx="685800" cy="685800"/>
          </a:xfrm>
          <a:prstGeom prst="ellipse">
            <a:avLst/>
          </a:prstGeom>
          <a:solidFill>
            <a:srgbClr val="1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Chevron 5"/>
          <p:cNvSpPr/>
          <p:nvPr/>
        </p:nvSpPr>
        <p:spPr>
          <a:xfrm>
            <a:off x="1737360" y="1810512"/>
            <a:ext cx="502920" cy="256032"/>
          </a:xfrm>
          <a:prstGeom prst="chevron">
            <a:avLst/>
          </a:prstGeom>
          <a:solidFill>
            <a:srgbClr val="5A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423160"/>
            <a:ext cx="1691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62337"/>
                </a:solidFill>
              </a:rPr>
              <a:t>Discover</a:t>
            </a:r>
          </a:p>
          <a:p>
            <a:pPr algn="ctr">
              <a:defRPr sz="1100">
                <a:solidFill>
                  <a:srgbClr val="5A6978"/>
                </a:solidFill>
              </a:defRPr>
            </a:pPr>
            <a:r>
              <a:t>Search / content / lead</a:t>
            </a:r>
          </a:p>
        </p:txBody>
      </p:sp>
      <p:sp>
        <p:nvSpPr>
          <p:cNvPr id="8" name="Oval 7"/>
          <p:cNvSpPr/>
          <p:nvPr/>
        </p:nvSpPr>
        <p:spPr>
          <a:xfrm>
            <a:off x="2926080" y="1600200"/>
            <a:ext cx="685800" cy="685800"/>
          </a:xfrm>
          <a:prstGeom prst="ellipse">
            <a:avLst/>
          </a:prstGeom>
          <a:solidFill>
            <a:srgbClr val="1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Chevron 8"/>
          <p:cNvSpPr/>
          <p:nvPr/>
        </p:nvSpPr>
        <p:spPr>
          <a:xfrm>
            <a:off x="3657600" y="1810512"/>
            <a:ext cx="502920" cy="256032"/>
          </a:xfrm>
          <a:prstGeom prst="chevron">
            <a:avLst/>
          </a:prstGeom>
          <a:solidFill>
            <a:srgbClr val="5A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2423160"/>
            <a:ext cx="1691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62337"/>
                </a:solidFill>
              </a:rPr>
              <a:t>Book</a:t>
            </a:r>
          </a:p>
          <a:p>
            <a:pPr algn="ctr">
              <a:defRPr sz="1100">
                <a:solidFill>
                  <a:srgbClr val="5A6978"/>
                </a:solidFill>
              </a:defRPr>
            </a:pPr>
            <a:r>
              <a:t>Appointment &amp; queue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0" y="1600200"/>
            <a:ext cx="685800" cy="685800"/>
          </a:xfrm>
          <a:prstGeom prst="ellipse">
            <a:avLst/>
          </a:prstGeom>
          <a:solidFill>
            <a:srgbClr val="1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Chevron 11"/>
          <p:cNvSpPr/>
          <p:nvPr/>
        </p:nvSpPr>
        <p:spPr>
          <a:xfrm>
            <a:off x="5577840" y="1810512"/>
            <a:ext cx="502920" cy="256032"/>
          </a:xfrm>
          <a:prstGeom prst="chevron">
            <a:avLst/>
          </a:prstGeom>
          <a:solidFill>
            <a:srgbClr val="5A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23160"/>
            <a:ext cx="1691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62337"/>
                </a:solidFill>
              </a:rPr>
              <a:t>Consult</a:t>
            </a:r>
          </a:p>
          <a:p>
            <a:pPr algn="ctr">
              <a:defRPr sz="1100">
                <a:solidFill>
                  <a:srgbClr val="5A6978"/>
                </a:solidFill>
              </a:defRPr>
            </a:pPr>
            <a:r>
              <a:t>Clinical notes / diagnosis</a:t>
            </a:r>
          </a:p>
        </p:txBody>
      </p:sp>
      <p:sp>
        <p:nvSpPr>
          <p:cNvPr id="14" name="Oval 13"/>
          <p:cNvSpPr/>
          <p:nvPr/>
        </p:nvSpPr>
        <p:spPr>
          <a:xfrm>
            <a:off x="6766560" y="1600200"/>
            <a:ext cx="685800" cy="685800"/>
          </a:xfrm>
          <a:prstGeom prst="ellipse">
            <a:avLst/>
          </a:prstGeom>
          <a:solidFill>
            <a:srgbClr val="1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Chevron 14"/>
          <p:cNvSpPr/>
          <p:nvPr/>
        </p:nvSpPr>
        <p:spPr>
          <a:xfrm>
            <a:off x="7498080" y="1810512"/>
            <a:ext cx="502920" cy="256032"/>
          </a:xfrm>
          <a:prstGeom prst="chevron">
            <a:avLst/>
          </a:prstGeom>
          <a:solidFill>
            <a:srgbClr val="5A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423160"/>
            <a:ext cx="1691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62337"/>
                </a:solidFill>
              </a:rPr>
              <a:t>Act</a:t>
            </a:r>
          </a:p>
          <a:p>
            <a:pPr algn="ctr">
              <a:defRPr sz="1100">
                <a:solidFill>
                  <a:srgbClr val="5A6978"/>
                </a:solidFill>
              </a:defRPr>
            </a:pPr>
            <a:r>
              <a:t>Prescription / lab / treatment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0" y="1600200"/>
            <a:ext cx="685800" cy="685800"/>
          </a:xfrm>
          <a:prstGeom prst="ellipse">
            <a:avLst/>
          </a:prstGeom>
          <a:solidFill>
            <a:srgbClr val="1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Chevron 17"/>
          <p:cNvSpPr/>
          <p:nvPr/>
        </p:nvSpPr>
        <p:spPr>
          <a:xfrm>
            <a:off x="9418320" y="1810512"/>
            <a:ext cx="502920" cy="256032"/>
          </a:xfrm>
          <a:prstGeom prst="chevron">
            <a:avLst/>
          </a:prstGeom>
          <a:solidFill>
            <a:srgbClr val="5A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2423160"/>
            <a:ext cx="1691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62337"/>
                </a:solidFill>
              </a:rPr>
              <a:t>Pay</a:t>
            </a:r>
          </a:p>
          <a:p>
            <a:pPr algn="ctr">
              <a:defRPr sz="1100">
                <a:solidFill>
                  <a:srgbClr val="5A6978"/>
                </a:solidFill>
              </a:defRPr>
            </a:pPr>
            <a:r>
              <a:t>Invoice / payment / order</a:t>
            </a:r>
          </a:p>
        </p:txBody>
      </p:sp>
      <p:sp>
        <p:nvSpPr>
          <p:cNvPr id="20" name="Oval 19"/>
          <p:cNvSpPr/>
          <p:nvPr/>
        </p:nvSpPr>
        <p:spPr>
          <a:xfrm>
            <a:off x="10607040" y="1600200"/>
            <a:ext cx="685800" cy="685800"/>
          </a:xfrm>
          <a:prstGeom prst="ellipse">
            <a:avLst/>
          </a:prstGeom>
          <a:solidFill>
            <a:srgbClr val="1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4120" y="2423160"/>
            <a:ext cx="1691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62337"/>
                </a:solidFill>
              </a:rPr>
              <a:t>Return</a:t>
            </a:r>
          </a:p>
          <a:p>
            <a:pPr algn="ctr">
              <a:defRPr sz="1100">
                <a:solidFill>
                  <a:srgbClr val="5A6978"/>
                </a:solidFill>
              </a:defRPr>
            </a:pPr>
            <a:r>
              <a:t>Follow-up / notification /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690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62337"/>
                </a:solidFill>
              </a:defRPr>
            </a:pPr>
            <a:r>
              <a:t>• Each step can feed the next workflow, reducing re-entry and making the patient relationship visible end-to-end.</a:t>
            </a:r>
          </a:p>
          <a:p>
            <a:pPr>
              <a:spcAft>
                <a:spcPts val="1200"/>
              </a:spcAft>
              <a:defRPr sz="1500">
                <a:solidFill>
                  <a:srgbClr val="162337"/>
                </a:solidFill>
              </a:defRPr>
            </a:pPr>
            <a:r>
              <a:t>• The demo includes audit/idempotency controls so repeated state-changing actions can be handled safely.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7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Multi-tenancy: one platform, controlled organizations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Tenant context is part of the operating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8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18807D"/>
                </a:solidFill>
              </a:rPr>
              <a:t>Platform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Platform administration can manage organizations and global controls.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7304" y="141732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2B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2B8B57"/>
                </a:solidFill>
              </a:rPr>
              <a:t>Tenant / organization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Each organization has its own clinics, users, configuration and operational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0248" y="141732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8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E0852D"/>
                </a:solidFill>
              </a:rPr>
              <a:t>Clinic scope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Users can be limited to a specific clinic for operational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15468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8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18807D"/>
                </a:solidFill>
              </a:rPr>
              <a:t>Role scope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Roles can be organization- or clinic-scoped; effective permissions depend on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7304" y="315468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2B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2B8B57"/>
                </a:solidFill>
              </a:rPr>
              <a:t>Data isolation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Records are scoped to the active tenant/clinic rather than relying on UI selection alone.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0248" y="315468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8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E0852D"/>
                </a:solidFill>
              </a:rPr>
              <a:t>Switching context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Authorized users can change environment/tenant/clinic/role context while the UI reflects the active scope.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7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337"/>
                </a:solidFill>
              </a:rPr>
              <a:t>Multiple environments without cross-contamination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78"/>
                </a:solidFill>
              </a:rPr>
              <a:t>Development, staging and production are distinct operational environments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8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18807D"/>
                </a:solidFill>
              </a:rPr>
              <a:t>Development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Build, test and demo changes safely.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7304" y="141732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8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E0852D"/>
                </a:solidFill>
              </a:rPr>
              <a:t>Staging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Validate releases and workflows before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0248" y="141732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BE4646"/>
                </a:solidFill>
              </a:rPr>
              <a:t>Production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Live patient and operational environment.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15468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6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162337"/>
                </a:solidFill>
              </a:rPr>
              <a:t>Isolation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Environment boundary is infrastructure/data level—not just a screen label.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7304" y="315468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2B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2B8B57"/>
                </a:solidFill>
              </a:rPr>
              <a:t>Tenant portability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The same tenant model works independently inside each environment.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0248" y="315468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8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18807D"/>
                </a:solidFill>
              </a:rPr>
              <a:t>Controlled release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Changes can be promoted through environments without mixing datasets.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7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337"/>
                </a:solidFill>
              </a:rPr>
              <a:t>Multi-user roles: right information for the right person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78"/>
                </a:solidFill>
              </a:rPr>
              <a:t>Role-based access reduces unnecessary exposure and simplifies daily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6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162337"/>
                </a:solidFill>
              </a:rPr>
              <a:t>Super Admin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Platform-level organization/environment administration.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7304" y="141732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8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18807D"/>
                </a:solidFill>
              </a:rPr>
              <a:t>Owner / Admin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Organization management, users, configuration and operations.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0248" y="141732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2B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2B8B57"/>
                </a:solidFill>
              </a:rPr>
              <a:t>Doctor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Clinical workflows, patient context, appointments and treatment.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15468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8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E0852D"/>
                </a:solidFill>
              </a:rPr>
              <a:t>Nurse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Patient care, treatments and supporting clinical 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7304" y="315468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8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18807D"/>
                </a:solidFill>
              </a:rPr>
              <a:t>Receptionist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Patients, appointments, queues and front-office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0248" y="315468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2B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2B8B57"/>
                </a:solidFill>
              </a:rPr>
              <a:t>Billing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Invoices, payments, orders and revenue workflows.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7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337"/>
                </a:solidFill>
              </a:rPr>
              <a:t>How ClinicCare can increase convenience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78"/>
                </a:solidFill>
              </a:rPr>
              <a:t>Potential operational benefits to validate through a hospital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62337"/>
                </a:solidFill>
              </a:defRPr>
            </a:pPr>
            <a:r>
              <a:t>• Fewer repeated questions and repeated data entry because patient, appointment, clinical and billing context can be connected.</a:t>
            </a:r>
          </a:p>
          <a:p>
            <a:pPr>
              <a:spcAft>
                <a:spcPts val="1200"/>
              </a:spcAft>
              <a:defRPr sz="1700">
                <a:solidFill>
                  <a:srgbClr val="162337"/>
                </a:solidFill>
              </a:defRPr>
            </a:pPr>
            <a:r>
              <a:t>• Clearer queues and appointment visibility for front-office staff and clinicians.</a:t>
            </a:r>
          </a:p>
          <a:p>
            <a:pPr>
              <a:spcAft>
                <a:spcPts val="1200"/>
              </a:spcAft>
              <a:defRPr sz="1700">
                <a:solidFill>
                  <a:srgbClr val="162337"/>
                </a:solidFill>
              </a:defRPr>
            </a:pPr>
            <a:r>
              <a:t>• Digital access to prescriptions, documents, consents and follow-up information where configured.</a:t>
            </a:r>
          </a:p>
          <a:p>
            <a:pPr>
              <a:spcAft>
                <a:spcPts val="1200"/>
              </a:spcAft>
              <a:defRPr sz="1700">
                <a:solidFill>
                  <a:srgbClr val="162337"/>
                </a:solidFill>
              </a:defRPr>
            </a:pPr>
            <a:r>
              <a:t>• Faster hand-offs between reception, clinical, diagnostics and billing teams.</a:t>
            </a:r>
          </a:p>
          <a:p>
            <a:pPr>
              <a:spcAft>
                <a:spcPts val="1200"/>
              </a:spcAft>
              <a:defRPr sz="1700">
                <a:solidFill>
                  <a:srgbClr val="162337"/>
                </a:solidFill>
              </a:defRPr>
            </a:pPr>
            <a:r>
              <a:t>• Role-specific screens reduce navigation complexity for each staff group.</a:t>
            </a:r>
          </a:p>
          <a:p>
            <a:pPr>
              <a:spcAft>
                <a:spcPts val="1200"/>
              </a:spcAft>
              <a:defRPr sz="1700">
                <a:solidFill>
                  <a:srgbClr val="162337"/>
                </a:solidFill>
              </a:defRPr>
            </a:pPr>
            <a:r>
              <a:t>• Consistent notifications and follow-ups can keep patients engaged after the visit.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7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337"/>
                </a:solidFill>
              </a:rPr>
              <a:t>How ClinicCare can support patient growth and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78"/>
                </a:solidFill>
              </a:rPr>
              <a:t>The platform connects acquisition, conversion, care and retention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8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18807D"/>
                </a:solidFill>
              </a:rPr>
              <a:t>Acquire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CMS, articles, FAQs, reviews and lead capture can support discovery.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7304" y="141732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2B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2B8B57"/>
                </a:solidFill>
              </a:rPr>
              <a:t>Convert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Appointment and queue workflows reduce friction between interest and visit.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0248" y="141732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8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E0852D"/>
                </a:solidFill>
              </a:rPr>
              <a:t>Expand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Services, packages, treatments, products and orders create structured opportunities.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15468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8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18807D"/>
                </a:solidFill>
              </a:rPr>
              <a:t>Retain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Follow-ups, notifications, reviews and continuity workflows support repeat engagement.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7304" y="315468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BE4646"/>
                </a:solidFill>
              </a:rPr>
              <a:t>Recover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Operational visibility can surface pending payments, follow-ups and outstanding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0248" y="315468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6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162337"/>
                </a:solidFill>
              </a:rPr>
              <a:t>Measure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Reports connect appointments, revenue, product sales, acquisition and operations.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7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Management: one operating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From individual transactions to organization-level visibility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8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18807D"/>
                </a:solidFill>
              </a:rPr>
              <a:t>Patient volume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Appointments, queue and patient acquisition.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7304" y="141732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2B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2B8B57"/>
                </a:solidFill>
              </a:rPr>
              <a:t>Revenue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Invoices, payments, product sales and service revenue.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0248" y="141732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8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E0852D"/>
                </a:solidFill>
              </a:rPr>
              <a:t>Utilization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Packages, treatments, doctors and schedules.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15468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8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18807D"/>
                </a:solidFill>
              </a:rPr>
              <a:t>Inventory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Products, stock and orders.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7304" y="315468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2B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2B8B57"/>
                </a:solidFill>
              </a:rPr>
              <a:t>Engagement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Leads, follow-ups, reviews and notifications.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0248" y="315468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8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E0852D"/>
                </a:solidFill>
              </a:rPr>
              <a:t>Control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RBAC, audit trail, idempotency and tenant/environment context.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7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337"/>
                </a:solidFill>
              </a:rPr>
              <a:t>Operational safeguards built into the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8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18807D"/>
                </a:solidFill>
              </a:rPr>
              <a:t>Tenant context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Every scoped workflow operates within an active organization.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37304" y="141732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2B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2B8B57"/>
                </a:solidFill>
              </a:rPr>
              <a:t>Clinic context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Clinic-specific access can be constrained by role assignment.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41732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8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E0852D"/>
                </a:solidFill>
              </a:rPr>
              <a:t>Environment isolation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Separate deployment/data environments reduce accidental cross-environment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15468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6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162337"/>
                </a:solidFill>
              </a:rPr>
              <a:t>Idempotency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Repeated state-changing submissions can be recognized and committed once.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7304" y="315468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8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18807D"/>
                </a:solidFill>
              </a:rPr>
              <a:t>Auditability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Administrative and operational actions can be recorded for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15468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2B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2B8B57"/>
                </a:solidFill>
              </a:rPr>
              <a:t>Role-aware UI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The wireframe demonstrates role-sensitive access and workflows.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78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337"/>
                </a:solidFill>
              </a:rPr>
              <a:t>Hospital pilot: how to turn the demo into measurable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50">
                <a:solidFill>
                  <a:srgbClr val="162337"/>
                </a:solidFill>
              </a:defRPr>
            </a:pPr>
            <a:r>
              <a:t>• Select one clinic/service line and map the current patient journey from lead/booking through follow-up.</a:t>
            </a:r>
          </a:p>
          <a:p>
            <a:pPr>
              <a:spcAft>
                <a:spcPts val="1200"/>
              </a:spcAft>
              <a:defRPr sz="1650">
                <a:solidFill>
                  <a:srgbClr val="162337"/>
                </a:solidFill>
              </a:defRPr>
            </a:pPr>
            <a:r>
              <a:t>• Baseline measurable metrics: appointment booking time, queue waiting time, no-show rate, follow-up completion, payment collection time and staff touch-points.</a:t>
            </a:r>
          </a:p>
          <a:p>
            <a:pPr>
              <a:spcAft>
                <a:spcPts val="1200"/>
              </a:spcAft>
              <a:defRPr sz="1650">
                <a:solidFill>
                  <a:srgbClr val="162337"/>
                </a:solidFill>
              </a:defRPr>
            </a:pPr>
            <a:r>
              <a:t>• Configure role permissions for reception, doctors, nursing, billing and administration.</a:t>
            </a:r>
          </a:p>
          <a:p>
            <a:pPr>
              <a:spcAft>
                <a:spcPts val="1200"/>
              </a:spcAft>
              <a:defRPr sz="1650">
                <a:solidFill>
                  <a:srgbClr val="162337"/>
                </a:solidFill>
              </a:defRPr>
            </a:pPr>
            <a:r>
              <a:t>• Run development → staging → production with tenant and environment separation.</a:t>
            </a:r>
          </a:p>
          <a:p>
            <a:pPr>
              <a:spcAft>
                <a:spcPts val="1200"/>
              </a:spcAft>
              <a:defRPr sz="1650">
                <a:solidFill>
                  <a:srgbClr val="162337"/>
                </a:solidFill>
              </a:defRPr>
            </a:pPr>
            <a:r>
              <a:t>• Compare baseline vs pilot metrics; use actual hospital data before making claims about revenue or patient growth.</a:t>
            </a:r>
          </a:p>
          <a:p>
            <a:pPr>
              <a:spcAft>
                <a:spcPts val="1200"/>
              </a:spcAft>
              <a:defRPr sz="1650">
                <a:solidFill>
                  <a:srgbClr val="162337"/>
                </a:solidFill>
              </a:defRPr>
            </a:pPr>
            <a:r>
              <a:t>• Expand only after operational, security, privacy and clinical workflow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78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337"/>
                </a:solidFill>
              </a:rPr>
              <a:t>Suggested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78"/>
                </a:solidFill>
              </a:rPr>
              <a:t>Move from functional demo to controlled hospital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8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18807D"/>
                </a:solidFill>
              </a:rPr>
              <a:t>Phase 1 • Foundation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Tenant model, environments, RBAC, authentication, core patient/appointment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7304" y="141732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2B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2B8B57"/>
                </a:solidFill>
              </a:rPr>
              <a:t>Phase 2 • Clinical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Consultation, prescriptions, records, laboratory, treatment and document workflows.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0248" y="141732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8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E0852D"/>
                </a:solidFill>
              </a:rPr>
              <a:t>Phase 3 • Revenue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Billing, payments, products, orders, packages, inventory and reporting.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15468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8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18807D"/>
                </a:solidFill>
              </a:rPr>
              <a:t>Phase 4 • Engagement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Leads, follow-ups, notifications, reviews and CMS.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7304" y="315468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6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162337"/>
                </a:solidFill>
              </a:rPr>
              <a:t>Phase 5 • Integration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Hospital systems, payments, messaging, analytics and external APIs as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0248" y="3154680"/>
            <a:ext cx="3514344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2B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700" b="1">
                <a:solidFill>
                  <a:srgbClr val="2B8B57"/>
                </a:solidFill>
              </a:rPr>
              <a:t>Phase 6 • Scale</a:t>
            </a:r>
          </a:p>
          <a:p>
            <a:pPr>
              <a:spcBef>
                <a:spcPts val="700"/>
              </a:spcBef>
              <a:defRPr sz="1250">
                <a:solidFill>
                  <a:srgbClr val="5A6978"/>
                </a:solidFill>
              </a:defRPr>
            </a:pPr>
            <a:r>
              <a:t>Additional clinics/tenants, operational analytics, automation and advanced controls.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78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</a:rPr>
              <a:t>ClinicCare</a:t>
            </a:r>
          </a:p>
          <a:p>
            <a:pPr algn="ctr">
              <a:defRPr sz="2000">
                <a:solidFill>
                  <a:srgbClr val="C8DCE1"/>
                </a:solidFill>
              </a:defRPr>
            </a:pPr>
            <a:r>
              <a:t>A connected operating layer for patient experience, clinical operations and revenue visibility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8503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</a:defRPr>
            </a:pPr>
            <a:r>
              <a:t>• Multi-tenant • Multi-environment • Multi-role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</a:defRPr>
            </a:pPr>
            <a:r>
              <a:t>• Patient journey connected end-to-end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</a:defRPr>
            </a:pPr>
            <a:r>
              <a:t>• Operational and financial workflows in one platform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</a:defRPr>
            </a:pPr>
            <a:r>
              <a:t>• Pilot with measurable hospital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78"/>
                </a:solidFill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